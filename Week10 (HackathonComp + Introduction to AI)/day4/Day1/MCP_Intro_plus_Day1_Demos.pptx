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architecture: three roles, not two.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Host, Client, Server — and the language model is none of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486400" cy="3566160"/>
          </a:xfrm>
          <a:prstGeom prst="roundRect">
            <a:avLst>
              <a:gd name="adj" fmla="val 3846"/>
            </a:avLst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933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3957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with the chat window — Claude Desktop, Goose, your own script.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3063240"/>
            <a:ext cx="1783080" cy="1783080"/>
          </a:xfrm>
          <a:prstGeom prst="ellipse">
            <a:avLst/>
          </a:prstGeom>
          <a:solidFill>
            <a:srgbClr val="C9CDD6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063240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94760" y="3063240"/>
            <a:ext cx="1783080" cy="1783080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3063240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MCP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3822192"/>
            <a:ext cx="1965960" cy="274320"/>
          </a:xfrm>
          <a:prstGeom prst="rect">
            <a:avLst/>
          </a:prstGeom>
          <a:solidFill>
            <a:srgbClr val="2E5BD7"/>
          </a:solidFill>
          <a:ln/>
        </p:spPr>
      </p:sp>
      <p:sp>
        <p:nvSpPr>
          <p:cNvPr id="12" name="Shape 10"/>
          <p:cNvSpPr/>
          <p:nvPr/>
        </p:nvSpPr>
        <p:spPr>
          <a:xfrm rot="5400000">
            <a:off x="8092440" y="3639312"/>
            <a:ext cx="502920" cy="640080"/>
          </a:xfrm>
          <a:prstGeom prst="triangle">
            <a:avLst/>
          </a:prstGeom>
          <a:solidFill>
            <a:srgbClr val="2E5BD7"/>
          </a:solidFill>
          <a:ln/>
        </p:spPr>
      </p:sp>
      <p:sp>
        <p:nvSpPr>
          <p:cNvPr id="13" name="Shape 11"/>
          <p:cNvSpPr/>
          <p:nvPr/>
        </p:nvSpPr>
        <p:spPr>
          <a:xfrm>
            <a:off x="8732520" y="2697480"/>
            <a:ext cx="2514600" cy="2514600"/>
          </a:xfrm>
          <a:prstGeom prst="ellipse">
            <a:avLst/>
          </a:prstGeom>
          <a:solidFill>
            <a:srgbClr val="C9CDD6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697480"/>
            <a:ext cx="25146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Python file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NOT the client. The model reasons; the client is the plumbing inside the host that speaks the protocol.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57150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exposes tools, resources, and data — a database, the file system, a web service.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can actually see and use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MCP server can offer three primitives. Three — not four.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81328" y="1783080"/>
            <a:ext cx="1600200" cy="1600200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00507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the model can invoke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Search Database, Send Email).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94376" y="1783080"/>
            <a:ext cx="1600200" cy="1600200"/>
          </a:xfrm>
          <a:prstGeom prst="ellipse">
            <a:avLst/>
          </a:prstGeom>
          <a:solidFill>
            <a:srgbClr val="C9CDD6"/>
          </a:solidFill>
          <a:ln/>
        </p:spPr>
      </p:sp>
      <p:sp>
        <p:nvSpPr>
          <p:cNvPr id="8" name="Text 6"/>
          <p:cNvSpPr/>
          <p:nvPr/>
        </p:nvSpPr>
        <p:spPr>
          <a:xfrm>
            <a:off x="4636008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36008" y="400507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of data and state the host reads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text documents, database rows).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07424" y="1783080"/>
            <a:ext cx="1600200" cy="1600200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11" name="Text 9"/>
          <p:cNvSpPr/>
          <p:nvPr/>
        </p:nvSpPr>
        <p:spPr>
          <a:xfrm>
            <a:off x="8449056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49056" y="400507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 the user triggers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specific tasks.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10543032" cy="960120"/>
          </a:xfrm>
          <a:prstGeom prst="roundRect">
            <a:avLst>
              <a:gd name="adj" fmla="val 8571"/>
            </a:avLst>
          </a:prstGeom>
          <a:solidFill>
            <a:srgbClr val="F2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“context” go?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“Context” is not a fourth primitive — it's the RESULT. These three are how context reaches the model's context window.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estive-nifty-franklin/mnt/WorkshopLP/Open-Source-LMM/MCP/Workshop-New-v3/Slides/build/nlm_media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theory.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" y="315468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 server.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43434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Python file. Two tools. A real product connected by the end of the hour.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 watch three questions fail.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a local model, no MCP. Same root cause every time.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9235440" cy="960120"/>
          </a:xfrm>
          <a:prstGeom prst="roundRect">
            <a:avLst>
              <a:gd name="adj" fmla="val 8571"/>
            </a:avLst>
          </a:prstGeom>
          <a:solidFill>
            <a:srgbClr val="F2F3F5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8778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Filesystem 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written in the file notes.txt in my current directory?”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0" y="19476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2953512"/>
            <a:ext cx="9235440" cy="960120"/>
          </a:xfrm>
          <a:prstGeom prst="roundRect">
            <a:avLst>
              <a:gd name="adj" fmla="val 8571"/>
            </a:avLst>
          </a:prstGeom>
          <a:solidFill>
            <a:srgbClr val="F2F3F5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53512"/>
            <a:ext cx="8778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Live web data 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the weather in Tel Aviv right now? Exact temperature.”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87000" y="31181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22960" y="4123944"/>
            <a:ext cx="9235440" cy="960120"/>
          </a:xfrm>
          <a:prstGeom prst="roundRect">
            <a:avLst>
              <a:gd name="adj" fmla="val 8571"/>
            </a:avLst>
          </a:prstGeom>
          <a:solidFill>
            <a:srgbClr val="F2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123944"/>
            <a:ext cx="8778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Database 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all products in our workshop database.”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87000" y="42885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22960" y="5486400"/>
            <a:ext cx="4937760" cy="566928"/>
          </a:xfrm>
          <a:prstGeom prst="roundRect">
            <a:avLst>
              <a:gd name="adj" fmla="val 14516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59612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demo_act1_failures.py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54864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is trapped inside a box. MCP is the door.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server in two lines.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FastMCP — the framework. The name shows up in every client that connects.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554480"/>
          </a:xfrm>
          <a:prstGeom prst="roundRect">
            <a:avLst>
              <a:gd name="adj" fmla="val 5294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7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mcp.server.fastmcp import FastMCP</a:t>
            </a:r>
            <a:endParaRPr lang="en-US" sz="1700" dirty="0"/>
          </a:p>
          <a:p>
            <a:pPr algn="l" indent="0" marL="0">
              <a:lnSpc>
                <a:spcPts val="2414"/>
              </a:lnSpc>
              <a:buNone/>
            </a:pPr>
            <a:endParaRPr lang="en-US" sz="1700" dirty="0"/>
          </a:p>
          <a:p>
            <a:pPr algn="l" indent="0" marL="0">
              <a:lnSpc>
                <a:spcPts val="2414"/>
              </a:lnSpc>
              <a:buNone/>
            </a:pPr>
            <a:r>
              <a:rPr lang="en-US" sz="17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= FastMCP("Workshop")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0515600" cy="1051560"/>
          </a:xfrm>
          <a:prstGeom prst="roundRect">
            <a:avLst>
              <a:gd name="adj" fmla="val 7826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767328"/>
            <a:ext cx="1005840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server_starter.py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server running — zero tools registered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server. No tools. Nothing the LLM can call — yet. We're going to change that.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decorator is the whole trick.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function. One line on top registers it as something the LLM can call.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— just a function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12848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22576"/>
            <a:ext cx="466344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get_weather(city: str) -&gt; str: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"sunny"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— an MCP tool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212848"/>
            <a:ext cx="5120640" cy="1600200"/>
          </a:xfrm>
          <a:prstGeom prst="roundRect">
            <a:avLst>
              <a:gd name="adj" fmla="val 5143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22576"/>
            <a:ext cx="466344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get_weather(city: str) -&gt; str: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"sunny"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0543032" cy="1737360"/>
          </a:xfrm>
          <a:prstGeom prst="roundRect">
            <a:avLst>
              <a:gd name="adj" fmla="val 4737"/>
            </a:avLst>
          </a:prstGeom>
          <a:solidFill>
            <a:srgbClr val="F2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20624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this before? 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Flask: @app.route('/weather') tells the framework “this function handles this URL.”
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@mcp.tool() tells FastMCP “this function is a tool the LLM can call.” The pattern of every tool you'll ever write: decorator on top · clear docstring · function body · return a string.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1: read the machine.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#1, fixed. And the docstring is not documentation — it's a prompt.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949440" cy="3108960"/>
          </a:xfrm>
          <a:prstGeom prst="roundRect">
            <a:avLst>
              <a:gd name="adj" fmla="val 2647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649224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read_file(filename: str) -&gt; str: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"""Read any text file from the current directory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return its full contents."""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Path(__file__).parent / filename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path.exists():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f"File not found: {filename}"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path.read_text(encoding="utf-8")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46720" y="1828800"/>
            <a:ext cx="3291840" cy="3108960"/>
          </a:xfrm>
          <a:prstGeom prst="roundRect">
            <a:avLst>
              <a:gd name="adj" fmla="val 2647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8275320" y="196596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docstring IS the prompt.
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the LLM reads to decide whether to call your tool. Vague docstring → wrong calls. Precise docstring → good decisions.</a:t>
            </a:r>
            <a:endParaRPr lang="en-US" sz="1400" dirty="0"/>
          </a:p>
          <a:p>
            <a:pPr algn="l" indent="0" marL="0">
              <a:lnSpc>
                <a:spcPts val="1900"/>
              </a:lnSpc>
              <a:buNone/>
            </a:pPr>
            <a:endParaRPr lang="en-US" sz="14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Docstrings are prompt engineering.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6949440" cy="1051560"/>
          </a:xfrm>
          <a:prstGeom prst="roundRect">
            <a:avLst>
              <a:gd name="adj" fmla="val 7826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367528"/>
            <a:ext cx="649224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client.py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"What's in notes.txt?"  →  it works.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2: reach the live world.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#2, fixed. Free API, no key, no signup — and the data is from right now.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589520" cy="3931920"/>
          </a:xfrm>
          <a:prstGeom prst="roundRect">
            <a:avLst>
              <a:gd name="adj" fmla="val 2093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713232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@mcp.tool()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get_weather(city: str) -&gt; str: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the current weather conditions and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A9D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 for any city in the world."""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requests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requests.get(f"https://wttr.in/{city}?format=3", timeout=5)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r.raise_for_status()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r.text.strip()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350" dirty="0"/>
          </a:p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f"Weather unavailable: {e}"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0" y="1828800"/>
            <a:ext cx="2679192" cy="1828800"/>
          </a:xfrm>
          <a:prstGeom prst="roundRect">
            <a:avLst>
              <a:gd name="adj" fmla="val 4500"/>
            </a:avLst>
          </a:prstGeom>
          <a:solidFill>
            <a:srgbClr val="22262E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0" y="196596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
</a:t>
            </a:r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 Aviv: +28°C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3977640"/>
            <a:ext cx="26791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room: why is import requests INSIDE the function? (Isolation — a missing package breaks one tool, not the whole server.)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file. Two transports. Zero config.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when you run it from a terminal. STDIO when a product runs it as a subprocess.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2103120"/>
          </a:xfrm>
          <a:prstGeom prst="roundRect">
            <a:avLst>
              <a:gd name="adj" fmla="val 3913"/>
            </a:avLst>
          </a:prstGeom>
          <a:solidFill>
            <a:srgbClr val="F2F3F5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38528"/>
            <a:ext cx="1005840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sys.stdin.isatty():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mcp.run(transport="streamable-http")   # you, in a terminal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326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500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E5B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mcp.run()                              # STDIO — Goose / Claude Desktop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651760" cy="658368"/>
          </a:xfrm>
          <a:prstGeom prst="roundRect">
            <a:avLst>
              <a:gd name="adj" fmla="val 12500"/>
            </a:avLst>
          </a:prstGeom>
          <a:solidFill>
            <a:srgbClr val="2226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3434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434340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launches your server as a subprocess. The desktop story.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2651760" cy="658368"/>
          </a:xfrm>
          <a:prstGeom prst="roundRect">
            <a:avLst>
              <a:gd name="adj" fmla="val 12500"/>
            </a:avLst>
          </a:prstGeom>
          <a:solidFill>
            <a:srgbClr val="2E5BD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21208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521208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listens on a port. The remote / cloud story. (SSE is deprecated.)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A9D5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NOW — your turn (25 min)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tool nobody else in the room has.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658368" cy="658368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933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capability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free API (wttr.in, Open-Meteo, Wikipedia…) or something on your machine.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035808"/>
            <a:ext cx="658368" cy="658368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35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962656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tool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@mcp.tool() · docstring that reads like a prompt · body · return a string.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078224"/>
            <a:ext cx="658368" cy="658368"/>
          </a:xfrm>
          <a:prstGeom prst="ellipse">
            <a:avLst/>
          </a:prstGeom>
          <a:solidFill>
            <a:srgbClr val="2226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0782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4005072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+ test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python server_starter.py → python client.py — ask a question that needs YOUR tool.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5120640"/>
            <a:ext cx="658368" cy="658368"/>
          </a:xfrm>
          <a:prstGeom prst="ellipse">
            <a:avLst/>
          </a:prstGeom>
          <a:solidFill>
            <a:srgbClr val="2E5BD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120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5047488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it on purpose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Blank the docstring. Watch the LLM stop calling your tool. Now you believe it.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early? Add a second tool that takes TWO parameters.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the door.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30352" y="12344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Python file. The same pattern, forever: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2226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20440" y="201168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docstring = prompt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F2F3F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one thing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15400" y="201168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F2F3F5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 string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 read a file and fetched live weather — the two failures from minute one, fixed by ~40 lines of Python.
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E5B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flip sides — you write the CLIENT, and connect real products (Goose, Claude Desktop) to the server you just built.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10543032" cy="1051560"/>
          </a:xfrm>
          <a:prstGeom prst="roundRect">
            <a:avLst>
              <a:gd name="adj" fmla="val 7826"/>
            </a:avLst>
          </a:prstGeom>
          <a:solidFill>
            <a:srgbClr val="F2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98348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two corrections:  </a:t>
            </a:r>
            <a:pPr algn="l" indent="0" marL="0">
              <a:buNone/>
            </a:pPr>
            <a:r>
              <a:rPr lang="en-US" sz="1500" dirty="0">
                <a:solidFill>
                  <a:srgbClr val="3A3F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is NOT the model (it lives inside the host) · MCP has THREE primitives — tools, resources, prompts.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6473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Workshop · Day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2026-07-20T14:02:38Z</dcterms:created>
  <dcterms:modified xsi:type="dcterms:W3CDTF">2026-07-20T14:02:38Z</dcterms:modified>
</cp:coreProperties>
</file>