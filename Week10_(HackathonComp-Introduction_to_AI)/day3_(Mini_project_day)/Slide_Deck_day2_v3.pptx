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KEYBOARD-FIRST  ·  JULY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one. Run one. On YOUR machine. Today.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7772400" cy="11887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24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BEFORE WE START — open a terminal and type: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--version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Error? Raise your hand NOW — not in 20 minutes.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file. Go look at 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LOOK ONLY — do NOT download! huggingface.co → search "Qwen3 GGUF" → click Files. 2 min.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320040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LOOKING 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Hugging Face = GitHub for models.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Each row = ONE file you could download.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qwen3-7b ... Q4_K_M.gguf ≈ 4.7 GB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That file IS the model. All of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Inside: ~7 BILLION numbers ("weights") the model learned in training.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257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 only LOOK here. Ollama does the downloading — next slide.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486400" cy="320040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vs TODAY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Yesterday: model = a website. You typed into someone else's computer.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Today: model = a file. You download it. It is YOURS.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"Open weights" = the file is published. Anyone can run it, forever.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800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"Closed" = the file stays on their servers. You rent access.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very large file of numbers plus a small program that runs it. Everything today follows from that sentence.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files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download — then we talk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Type this now. It downloads in the background while I explain things.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95728"/>
            <a:ext cx="5157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qwen3:0.6b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~520 MB - fine on any wifi, any laptop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laptop? Also start: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486400" cy="73152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81304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mistral:7b   # ~4.4 GB, 16GB 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486400" cy="310896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— WHAT DID YOU JUST RUN?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Ollama = the small program that RUNS model files.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383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 = download the file from a registry (like docker pull, npm install).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qwen3:0.6b = family qwen3, size 0.5 BILLION weights.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4663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When it finishes, your laptop can answer prompts with zero internet.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DOWNLOADS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terminal visible. Watching the progress bar IS the lesson: that bar is 500 million numbers arriving at your laptop.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"weight"?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your download runs: you just saw "7 billion weights" in a file listing — here is what one of them 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105156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0428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weight = ONE learned number.   e.g.  0.0273  or  -1.84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how strongly one signal influences another inside the model. Big = matters a lot. Near zero = ignored. "7B model" = a web of 7 billion of these.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6035040" cy="224028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38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WRITES THEM — TRAINING FINDS THEM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with 7B RANDOM numbers. Model is useless.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245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it "The cat sat on the ___" — it guesses wrong.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5902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Nudge the numbers that would have made "mat" likelier.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9560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with the next sentence. TRILLIONS of times.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53218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"knows" is just where the numbers landed.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429000"/>
            <a:ext cx="4937760" cy="224028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538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TUNING-PEG PICTURE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385876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 instrument with 7B tuning pegs, all random = noise.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42976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Training = a robot tuner nudging pegs, trillions of times.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95160" y="47365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GGUF file = the final peg positions. Nothing else.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517550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Quantization = rounding each peg slightly. 7B pegs voting together — the music barely changes.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EXPLAINS EVERYTHING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= count x bytes per number. No fact table inside — knowledge is smeared across the numbers. That is why: if you don't tell it, it doesn't know.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local token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Download done? Type this. Ask it anything.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95728"/>
            <a:ext cx="5157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qwen3:0.6b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why is the sky blue?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486400" cy="201168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38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internet used. Try airplane mode — it still works.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API key. No account. No cost. No rate limit.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Your CPU is doing the token-by-token prediction from Day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315468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 OF PLAY — TRY: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 Day 1 six-ingredient prompt. Does it obey?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383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Ask something AFTER its training cutoff. Watch it guess (Day 1 lesson, live).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Type /bye to exit when done.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Notice the SPEED. That is 0.6B params on a laptop CPU.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20 MILESTONE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you is now running a language model with zero cloud. That capability is permanent. Nobody can meter it.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 · 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weeks. Everything changed.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749808"/>
          </a:xfrm>
          <a:prstGeom prst="rect">
            <a:avLst/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37160" cy="749808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Chinese frontier releases in TWO WEEKS. GLM-5.2 becomes the #1 open-weights model (MIT).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749808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137160" cy="749808"/>
          </a:xfrm>
          <a:prstGeom prst="rect">
            <a:avLst/>
          </a:prstGeom>
          <a:solidFill>
            <a:srgbClr val="C7305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30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APR-JUN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69748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who STARTED open weights — shelves Behemoth, delays Llama 5 to 2027, goes closed.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1247120" cy="749808"/>
          </a:xfrm>
          <a:prstGeom prst="rect">
            <a:avLst/>
          </a:prstGeom>
          <a:solidFill>
            <a:srgbClr val="F1EFE8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137160" cy="749808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 16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56616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K3: 2.8 TRILLION params. Largest open model ever. Beats Claude Opus 4.8 on some tests.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96012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TORCH CHANGED HANDS · Chinese labs now hold 5 of the top-10 open slots — record high. The founder left; new stewards ship faster than anyone ever has.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TEACH A FRAMEWORK, NOT A LEADERBOARD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table is stale in 8 weeks. The six picking questions never are. Framework = the lesson. Leaderboard = homework.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 · 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 before the map: Mixture of Experts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numbers like "753B/40B" on the next slide. Here is how to read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173736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4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753B / 40B  means: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billion weights TOTAL in the file  ·  but only 40 billion WAKE UP per token.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building full of specialists; each question only visits a few offices.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3657600" cy="1188720"/>
          </a:xfrm>
          <a:prstGeom prst="rect">
            <a:avLst/>
          </a:prstGeom>
          <a:solidFill>
            <a:srgbClr val="F1EFE8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ACTIVE (the small number)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206240"/>
            <a:ext cx="3657600" cy="1188720"/>
          </a:xfrm>
          <a:prstGeom prst="rect">
            <a:avLst/>
          </a:prstGeom>
          <a:solidFill>
            <a:srgbClr val="F1EFE8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315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TOTAL (the big number)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206240"/>
            <a:ext cx="3657600" cy="1188720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315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quotes TOTAL. Now you know better.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ANALOGY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K3: 896 specialists in the building, your question sees 16 of them. Huge hospital, small bill.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 · 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· July 2026 · seven names to recognize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182880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373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737360"/>
            <a:ext cx="283464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7373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173736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73736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84632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737360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214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1214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1214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· 753B/40B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1214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1214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1214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1214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open model in the world right now.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786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25786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25786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· 2.8T/~50B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25786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25786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5786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25786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open model ever. Great at frontend.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358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0358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30358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0358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 · Flash open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30358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30358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30358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30358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+ math + code specialist.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930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4930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0" y="34930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34930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3.5/3.6 open · 3.7 closed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20640" y="34930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4930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4930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4930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multilingual all-rounder. Most downloaded.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9502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9502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39502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9502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(Apr 2025)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20640" y="39502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3792" y="39502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lic. ⚠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9502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39502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king. Stable, huge ecosystem, no longer frontier.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4074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44074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0" y="44074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9152" y="44074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· 5 sizes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44074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93792" y="44074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44074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44074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family. Runs on YOUR machine today.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864608"/>
            <a:ext cx="182880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" y="486460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286000" y="4864608"/>
            <a:ext cx="283464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59152" y="48646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120640" y="4864608"/>
            <a:ext cx="173736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486460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858000" y="4864608"/>
            <a:ext cx="4846320" cy="457200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31152" y="48646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multimodal newcomer.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do-anything license.  ⚠ = read before commercial use. That column outlives every benchmark.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72" name="Text 7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MEMORIZE THIS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RECOGNIZE the names and know the license column exists. The picking framework does the rest.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 · 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model · six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087D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087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code, classify, multilingual, reasoning?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92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LICENSE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 = do anything. Others: READ FIRST.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91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HARDWARE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5387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decides your size class. Be honest.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081528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6C4A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191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LATENCY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5387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needs fast. Overnight batch does not.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79976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89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QUALITY BAR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83717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it beat the frontier? Usually NO. Good-enough + private + free wins.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379976"/>
            <a:ext cx="5486400" cy="1143000"/>
          </a:xfrm>
          <a:prstGeom prst="rect">
            <a:avLst/>
          </a:prstGeom>
          <a:solidFill>
            <a:srgbClr val="F1EFE8"/>
          </a:solidFill>
          <a:ln w="12700">
            <a:solidFill>
              <a:srgbClr val="C730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489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83717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· your server · or a hosted provider.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DRILL — WE DO ONE TOGETHER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on the board: internal HR chatbot, sensitive data, 200 users, small budget. Walk the six OUT LOUD with me.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· Cross-model bake-off · 20 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Hosted provider (Together / Groq / HF) → 3 models, 3 families → same prompt → rank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657600" cy="265176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· DeepSeek V4.1 Flash · a Qwen 3.5 — or any 3 families you like.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657600" cy="265176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prompt on all three: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how MoE works in 3 bullets, plain English."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latency, quality, length.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657600" cy="265176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1-2-3 for THIS task.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ranking + one surprise in chat.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11247120" cy="548640"/>
          </a:xfrm>
          <a:prstGeom prst="rect">
            <a:avLst/>
          </a:prstGeom>
          <a:solidFill>
            <a:srgbClr val="F1EFE8"/>
          </a:solidFill>
          <a:ln w="15875">
            <a:solidFill>
              <a:srgbClr val="C730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66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FIRST · write your predicted winner on the card. Upset rate ≈ 50%. Loser buys coffee.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are averages. Your task is specific. A 20-minute bake-off beats 2 hours of leaderboard reading.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#1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· 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YOUR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Find your row. Write your pick on the card. You pull it in the next lab.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fit at all: quantization — weights compressed to 4-bit ("Q4"). ~4x smaller, barely dumber. GGUF is the file format.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29184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6974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697480"/>
            <a:ext cx="237744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6974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(at Q4)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697480"/>
            <a:ext cx="5577840" cy="384048"/>
          </a:xfrm>
          <a:prstGeom prst="rect">
            <a:avLst/>
          </a:prstGeom>
          <a:solidFill>
            <a:srgbClr val="E8E5DA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697480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this in the lab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3291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8152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RAM, no GPU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9040" y="3081528"/>
            <a:ext cx="23774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3081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~3B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081528"/>
            <a:ext cx="5577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081528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qwen3:0.6b  (already have it!)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3291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57016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49040" y="3557016"/>
            <a:ext cx="23774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355701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7-8B sweet spot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557016"/>
            <a:ext cx="5577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3557016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mistral:7b  ·  llama3.1:8b  ·  qwen3:7b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32504"/>
            <a:ext cx="3291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03250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+ gaming GPU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49040" y="4032504"/>
            <a:ext cx="23774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403250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~13B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4032504"/>
            <a:ext cx="5577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4032504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at higher quality · 13B Q4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507992"/>
            <a:ext cx="3291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507992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16+ GB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749040" y="4507992"/>
            <a:ext cx="23774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45079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13B-34B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26480" y="4507992"/>
            <a:ext cx="5577840" cy="475488"/>
          </a:xfrm>
          <a:prstGeom prst="rect">
            <a:avLst/>
          </a:prstGeom>
          <a:solidFill>
            <a:srgbClr val="F1EFE8"/>
          </a:solidFill>
          <a:ln w="6350">
            <a:solidFill>
              <a:srgbClr val="C8C4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4507992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punches above its weight (unified memory)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120640"/>
            <a:ext cx="11247120" cy="594360"/>
          </a:xfrm>
          <a:prstGeom prst="rect">
            <a:avLst/>
          </a:prstGeom>
          <a:solidFill>
            <a:srgbClr val="F1EFE8"/>
          </a:solidFill>
          <a:ln w="15875">
            <a:solidFill>
              <a:srgbClr val="2A9D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20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laptop = zero shame. qwen3:0.6b does the whole lab. What 0.6B does in 2026 is astonishing.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at Q4 ≈ 4-5 GB of RAM. Match model to machine BEFORE falling in love with a benchmark.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· Python + your local model · 25 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E63C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1E5C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DO NOW  ·  Ollama is already working (you proved it at minute 20). Now drive it from Python.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760720" cy="3291840"/>
          </a:xfrm>
          <a:prstGeom prst="rect">
            <a:avLst/>
          </a:prstGeom>
          <a:solidFill>
            <a:srgbClr val="EFEBDD"/>
          </a:solidFill>
          <a:ln w="9525">
            <a:solidFill>
              <a:srgbClr val="C8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95728"/>
            <a:ext cx="543153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model="qwen3:0.6b",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system=None):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 = ([{"role":"system",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"content":system}]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system else [])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[{"role":"user","content":prompt}]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requests.post(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"http://localhost:11434/v1/chat/completions",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json={"model":model,"messages":msgs},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timeout=120)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r.json()["choices"][0]\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["message"]["content"]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2286000"/>
            <a:ext cx="5212080" cy="329184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— CLIMB AS FAR AS YOU 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the script. First Python-driven local reply.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2918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 SYSTEM message — your Day 1 six-ingredient frame.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20840" y="38404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Force JSON out (Day 1 skill, local model).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4389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Same prompt → your hosted provider. Compare latency + quality.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0840" y="4937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Swap the model name. Same code. Zero changes. (That is the point.)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SHAPE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11434 speaks the same OpenAI dialect as the clouds. Learn the shape once — every provider, local or hosted, answers to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#2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· 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· what did your laptop do?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155448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hosted — who was faster for the FIRST token? For the whole answer?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486400" cy="1554480"/>
          </a:xfrm>
          <a:prstGeom prst="rect">
            <a:avLst/>
          </a:prstGeom>
          <a:solidFill>
            <a:srgbClr val="F1EFE8"/>
          </a:solidFill>
          <a:ln w="15875">
            <a:solidFill>
              <a:srgbClr val="2E6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0.6B obey your six-ingredient prompt? Where did it crack?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86400" cy="155448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got valid JSON from a local model? What did it take?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566160"/>
            <a:ext cx="5486400" cy="1554480"/>
          </a:xfrm>
          <a:prstGeom prst="rect">
            <a:avLst/>
          </a:prstGeom>
          <a:solidFill>
            <a:srgbClr val="F1EFE8"/>
          </a:solidFill>
          <a:ln w="15875">
            <a:solidFill>
              <a:srgbClr val="6C4A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069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ran two different models with the same code? How long did the swap take?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private, free, offline, yours. Hosted: stronger, faster, zero ops. Pros use BOTH — the six questions tell you when.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· 3-minute preview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6C4A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answer. AGENTS act — they call tools, loop, and work multi-step. That is the rest of your bootcamp week. Names to recognize when you see them: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124712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2468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wiring standard: any model ↔ any tool. USB-C for AI. You BUILD a server this week.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4712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087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32461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 as graphs — steps, retries, approval gates. The production choice.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124712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2E6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40233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a TEAM with roles — researcher, writer, reviewer. The easy start.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1124712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06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480060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agents, JSON-first — your Day 1 structured-output skill, weaponized.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HOMEWORK ON THIS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names. MCP day teaches the rest hands-on — with the local model you built today as your engine.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 · 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· pin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27432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3749040"/>
          </a:xfrm>
          <a:prstGeom prst="rect">
            <a:avLst/>
          </a:prstGeom>
          <a:solidFill>
            <a:srgbClr val="F1EFE8"/>
          </a:solidFill>
          <a:ln w="15875">
            <a:solidFill>
              <a:srgbClr val="087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· 6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 — what job?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License — MIT/Apache = free to use. Read others.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— your RAM decides your size class.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Latency — interactive or batch?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Quality bar — beat frontier? Usually unnecessary.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Hosting — laptop / server / hosted provider.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86400" cy="3749040"/>
          </a:xfrm>
          <a:prstGeom prst="rect">
            <a:avLst/>
          </a:prstGeom>
          <a:solidFill>
            <a:srgbClr val="F1EFE8"/>
          </a:solidFill>
          <a:ln w="15875">
            <a:solidFill>
              <a:srgbClr val="B2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QUICK REFERENCE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ollama pull &lt;model&gt; — download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ollama run &lt;model&gt; — chat in terminal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ollama serve — API on localhost:11434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Same OpenAI shape as every cloud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7B at Q4 ≈ 4-5 GB 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Small laptop → qwen3:0.6b, no shame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E8E5DA"/>
          </a:solidFill>
          <a:ln w="12700">
            <a:solidFill>
              <a:srgbClr val="2A9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897880"/>
            <a:ext cx="109728" cy="64008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971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61904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the handout pack continues the ladder — chat with memory, thinking mode, your first agent. Then MCP day.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can think now.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proved it at minute 20 — and nobody can meter it, rate-limit it,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take it away. The model table goes stale by September. That capability never does.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· setup checklist · notebook — in your handout pack.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Open-Source LLMs — Day 2 v3 (keyboard-first, July 2026)</dc:title>
  <dc:subject>PptxGenJS Presentation</dc:subject>
  <dc:creator>Developers Institute</dc:creator>
  <cp:lastModifiedBy>Developers Institute</cp:lastModifiedBy>
  <cp:revision>1</cp:revision>
  <dcterms:created xsi:type="dcterms:W3CDTF">2026-07-19T04:44:26Z</dcterms:created>
  <dcterms:modified xsi:type="dcterms:W3CDTF">2026-07-19T04:44:26Z</dcterms:modified>
</cp:coreProperties>
</file>