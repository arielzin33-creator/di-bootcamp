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0"/>
            <a:ext cx="1371600" cy="54864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4" name="Shape 2"/>
          <p:cNvSpPr/>
          <p:nvPr/>
        </p:nvSpPr>
        <p:spPr>
          <a:xfrm>
            <a:off x="12106656" y="0"/>
            <a:ext cx="54864" cy="137160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·  CONTEXT  ·  CLAUDE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Predictable AI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"type and hope" to a real workflow you can ship with.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4754880"/>
            <a:ext cx="1828800" cy="36576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lesson · Week 16 · Full-Stack · Data Analytics · GenAI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Institute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LLM, really?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answer: a pattern-matching machine trained on the internet. Predicts the next token, one at a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23060" y="23774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306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31820" y="23774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182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40580" y="23774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058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49340" y="23774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934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58100" y="23774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810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66860" y="23774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E8E5DA"/>
          </a:solidFill>
          <a:ln w="25400">
            <a:solidFill>
              <a:srgbClr val="B26A0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6686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8418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5486400" cy="1920240"/>
          </a:xfrm>
          <a:prstGeom prst="rect">
            <a:avLst/>
          </a:prstGeom>
          <a:solidFill>
            <a:srgbClr val="F1EFE8"/>
          </a:solidFill>
          <a:ln w="15875">
            <a:solidFill>
              <a:srgbClr val="2A9D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20440"/>
            <a:ext cx="128016" cy="192024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 pattern-matching machine trained on internet text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Predicts the next token, one at a time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 that 500 times → get a paragraph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Very good at what looks likely, given what came before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520440"/>
            <a:ext cx="5486400" cy="192024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520440"/>
            <a:ext cx="128016" cy="1920240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ISN'T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9319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 database — does not "know" facts, only patterns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 search engine — cannot look things up unless you give it a tool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 oracle — will guess plausibly rather than say "I don't know"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Conscious — no memory between chats, no "self"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PUNCHLINE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tell it, it doesn't know. Every fact you need must be in the context — or the model will guess.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WHAT IS A PROMPT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prompt?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send to a language model in ONE call.  Not just your question — the whole envelope.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011680"/>
            <a:ext cx="3474720" cy="640080"/>
          </a:xfrm>
          <a:prstGeom prst="roundRect">
            <a:avLst>
              <a:gd name="adj" fmla="val 21429"/>
            </a:avLst>
          </a:prstGeom>
          <a:solidFill>
            <a:srgbClr val="E8E5DA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box you type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what the API actually receives  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4572000" cy="640080"/>
          </a:xfrm>
          <a:prstGeom prst="rect">
            <a:avLst/>
          </a:prstGeom>
          <a:solidFill>
            <a:srgbClr val="F1EFE8"/>
          </a:solidFill>
          <a:ln w="19050">
            <a:solidFill>
              <a:srgbClr val="087D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108960"/>
            <a:ext cx="182880" cy="640080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63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4015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rules. Persona. Output format. What it must never 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0" cy="640080"/>
          </a:xfrm>
          <a:prstGeom prst="rect">
            <a:avLst/>
          </a:prstGeom>
          <a:solidFill>
            <a:srgbClr val="F1EFE8"/>
          </a:solidFill>
          <a:ln w="19050">
            <a:solidFill>
              <a:srgbClr val="2E63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840480"/>
            <a:ext cx="182880" cy="640080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895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1330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THIS turn. The input, the task.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4572000" cy="640080"/>
          </a:xfrm>
          <a:prstGeom prst="rect">
            <a:avLst/>
          </a:prstGeom>
          <a:solidFill>
            <a:srgbClr val="F1EFE8"/>
          </a:solidFill>
          <a:ln w="19050">
            <a:solidFill>
              <a:srgbClr val="B26A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572000"/>
            <a:ext cx="182880" cy="64008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626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8646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reply — AND every prior reply (the history).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286000"/>
            <a:ext cx="5760720" cy="237744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2395728"/>
            <a:ext cx="54315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 You are a sentiment extractor.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Return ONLY JSON: { "sentiment": "pos|neg|neu"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   "Loved the coffee, hated the wait."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ASSISTANT: { "sentiment": "neg"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Three roles. One model call. One reply.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 whole block IS the prompt.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4800600"/>
            <a:ext cx="5760720" cy="96012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800600"/>
            <a:ext cx="182880" cy="960120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51206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box shows you only the USER half. The system message is hidden — set by the app vendor. The whole point of this class: learn to control all three.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a three-part envelope: System + User + Assistant. The API sees all three. You only see one of them in a chat box.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prompt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strict anatomy of an API call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74520"/>
            <a:ext cx="11247120" cy="118872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463040" cy="1188720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19456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TOP-PRIORITY RULES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21031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output format, hard constraints. You write it ONCE — it sits in front of every turn. Highest authority.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247120" cy="118872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1463040" cy="1188720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19456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9456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34290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(or your app) sends THIS turn. The actual question, the row to process, the file to summarize.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247120" cy="118872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526280"/>
            <a:ext cx="1463040" cy="118872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262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219456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94560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47548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reply. Also includes every prior reply in the conversation — that's the model's memory of this session.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"system" = OpenAI "developer" = Google "system_instruction". Different name on the parameter. Exact same role.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anatomy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· 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and CANNOT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debugging session starts here. Know which lever you're pulling before you pull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3429000"/>
          </a:xfrm>
          <a:prstGeom prst="rect">
            <a:avLst/>
          </a:prstGeom>
          <a:solidFill>
            <a:srgbClr val="F1EFE8"/>
          </a:solidFill>
          <a:ln w="15875">
            <a:solidFill>
              <a:srgbClr val="2A9D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3291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 prompt (rules, persona)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message (the ask)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choice (Claude/GPT/Gemini)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Temperature (randomness)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max_tokens (output cap)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Tools + their schemas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Structured output schema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Few-shot 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657600" cy="342900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286000"/>
            <a:ext cx="3657600" cy="36576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INFLUENCE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788920"/>
            <a:ext cx="3291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Format compliance (JSON, bullets)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Refusal behavior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Tone and register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Which sources it cites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How much reasoning it shows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657600" cy="342900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286000"/>
            <a:ext cx="3657600" cy="365760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CONTROL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788920"/>
            <a:ext cx="3291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Exact word choice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Internal reasoning steps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Whether it used your context vs training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Latency guarantees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Cost precision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training cutoff 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DEBUGGING RULE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prompt fails, ask: was it a CONTROL knob I forgot to turn, or an INFLUENCE lever I can't force? The answer changes what you do next.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matrix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roles · three different surfaces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actually meet System / User / Assistant — and which one each tool hides.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721608" cy="338328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3721608" cy="7315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 · chatgpt.com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start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one-off questions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3355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✘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message HIDDEN</a:t>
            </a:r>
            <a:endParaRPr lang="en-US" sz="1100" dirty="0"/>
          </a:p>
          <a:p>
            <a:pPr marL="342900" indent="-342900">
              <a:buSzPct val="100000"/>
              <a:buChar char="✘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 mode you can call</a:t>
            </a:r>
            <a:endParaRPr lang="en-US" sz="1100" dirty="0"/>
          </a:p>
          <a:p>
            <a:pPr marL="342900" indent="-342900">
              <a:buSzPct val="100000"/>
              <a:buChar char="✘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script 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1688" y="2194560"/>
            <a:ext cx="3721608" cy="338328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2194560"/>
            <a:ext cx="3721608" cy="7315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237744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/ WORKBENCH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44568" y="274320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console.anthropic.com · aistudio.google.com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4568" y="3154680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44568" y="3383280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roles visible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/ JSON mode visible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iterate prompts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44568" y="4480560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44568" y="4709160"/>
            <a:ext cx="3355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✘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 / no file system</a:t>
            </a:r>
            <a:endParaRPr lang="en-US" sz="1100" dirty="0"/>
          </a:p>
          <a:p>
            <a:pPr marL="342900" indent="-342900">
              <a:buSzPct val="100000"/>
              <a:buChar char="✘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state</a:t>
            </a:r>
            <a:endParaRPr lang="en-US" sz="1100" dirty="0"/>
          </a:p>
          <a:p>
            <a:pPr marL="342900" indent="-342900">
              <a:buSzPct val="100000"/>
              <a:buChar char="✘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multi-turn-friendly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66176" y="2194560"/>
            <a:ext cx="3721608" cy="338328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2194560"/>
            <a:ext cx="3721608" cy="73152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24" name="Text 22"/>
          <p:cNvSpPr/>
          <p:nvPr/>
        </p:nvSpPr>
        <p:spPr>
          <a:xfrm>
            <a:off x="8449056" y="237744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49056" y="274320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· plan mode · MCP · subagents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49056" y="3154680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49056" y="3383280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files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files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commands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memory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49056" y="4480560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49056" y="4709160"/>
            <a:ext cx="3355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✘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feel takes a day</a:t>
            </a:r>
            <a:endParaRPr lang="en-US" sz="1100" dirty="0"/>
          </a:p>
          <a:p>
            <a:pPr marL="342900" indent="-342900">
              <a:buSzPct val="100000"/>
              <a:buChar char="✘"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more (uses tools)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SEE ALL THREE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same prompt in Claude.ai chat, in the Workbench, and in Claude Code. Same model. Three different surfaces.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surfaces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6-ingredient prompt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these. If you can't fill in at least 5 of the 6 — your prompt isn't done.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577840" cy="1097280"/>
          </a:xfrm>
          <a:prstGeom prst="rect">
            <a:avLst/>
          </a:prstGeom>
          <a:solidFill>
            <a:srgbClr val="F1EFE8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640080" cy="1097280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14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model pretending to be?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senior security engineer."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577840" cy="1097280"/>
          </a:xfrm>
          <a:prstGeom prst="rect">
            <a:avLst/>
          </a:prstGeom>
          <a:solidFill>
            <a:srgbClr val="F1EFE8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103120"/>
            <a:ext cx="640080" cy="1097280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1031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2240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2514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can't it guess? Audience, domain, file.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2816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 audience is busy CFOs."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577840" cy="1097280"/>
          </a:xfrm>
          <a:prstGeom prst="rect">
            <a:avLst/>
          </a:prstGeom>
          <a:solidFill>
            <a:srgbClr val="F1EFE8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640080" cy="1097280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918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verb. If your task has "and" twice → 2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005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"Classify each issue as bug | style | perf."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291840"/>
            <a:ext cx="5577840" cy="1097280"/>
          </a:xfrm>
          <a:prstGeom prst="rect">
            <a:avLst/>
          </a:prstGeom>
          <a:solidFill>
            <a:srgbClr val="F1EFE8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291840"/>
            <a:ext cx="640080" cy="1097280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2918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3429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3703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tone, what to AVOID.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4005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"≤80 words. No marketing language. Never invent stats."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5577840" cy="1097280"/>
          </a:xfrm>
          <a:prstGeom prst="rect">
            <a:avLst/>
          </a:prstGeom>
          <a:solidFill>
            <a:srgbClr val="F1EFE8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480560"/>
            <a:ext cx="640080" cy="1097280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805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34440" y="4617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34440" y="4892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shape. SHOW a schema.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34440" y="5193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"label": ..., "confidence": ... }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4480560"/>
            <a:ext cx="5577840" cy="1097280"/>
          </a:xfrm>
          <a:prstGeom prst="rect">
            <a:avLst/>
          </a:prstGeom>
          <a:solidFill>
            <a:srgbClr val="F1EFE8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4480560"/>
            <a:ext cx="640080" cy="1097280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44805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03720" y="4617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03720" y="4892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or a few exemplars.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03720" y="5193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... → Output: ...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any prompt. Tick which of the 6 it covers. Anything below 5 = rewrite.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ingredients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· Vague vs ingredient-complete · 10 min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5532120" cy="256032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47088"/>
            <a:ext cx="520293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30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A — the bad 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30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 me about climate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30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ingredients missing.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30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Long, generic, no audience.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532120" cy="256032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847088"/>
            <a:ext cx="520293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B — engineered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science journalist writing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busy executives.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3 bullets on grid-scale battery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in 2026.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bullet ≤ 25 words.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English. No marketing language.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with one line: "Bottom line: ..."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Paste PROMPT A in any playground. Run. Read the first two sentences.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Paste PROMPT B in a NEW chat. Run.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Side-by-side: which would you send to your boss?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Bonus: same two prompts in a SECOND playground — same outcome?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Same 30 seconds of typing. The 6 ingredients turn unusable output into shippable output.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#1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PROMPT ENGINEERING  · 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what &amp;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prompt so the model RELIABLY produces useful output.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 matter: DESIGNING (not hoping). RELIABLY (not lucky). USEFUL (not impressive).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3721608" cy="310896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06040"/>
            <a:ext cx="365760" cy="36576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06040"/>
            <a:ext cx="36576" cy="365760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889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SAME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326440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Same dollar. Same latency. A vague prompt and an engineered one return wildly different output. The prompt is the lever.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2606040"/>
            <a:ext cx="3721608" cy="310896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606040"/>
            <a:ext cx="365760" cy="36576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61688" y="2606040"/>
            <a:ext cx="36576" cy="365760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27889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0288" y="3154680"/>
            <a:ext cx="326440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stumble onto one good answer. Engineering means the same prompt works on Tuesday AND Friday, dev AND prod.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66176" y="2606040"/>
            <a:ext cx="3721608" cy="310896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6176" y="2606040"/>
            <a:ext cx="365760" cy="36576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6176" y="2606040"/>
            <a:ext cx="36576" cy="36576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94776" y="27889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94776" y="3154680"/>
            <a:ext cx="326440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your code can rely on is a prompt you put in front of customers. Without it, AI features stay demos forever.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hours. You leave with the 6-ingredient audit checklist + a workflow you can use in Claude Code from day one.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altitude for a prompt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Goldilocks zone for how much you spell out. Miss it in either direction and the model breaks.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00" cy="329184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 helpful and use the appropriate tools."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nothing concrete to latch onto. Improvises. You get a coin toss every run.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331720"/>
            <a:ext cx="3657600" cy="3291840"/>
          </a:xfrm>
          <a:prstGeom prst="rect">
            <a:avLst/>
          </a:prstGeom>
          <a:solidFill>
            <a:srgbClr val="F1EFE8"/>
          </a:solidFill>
          <a:ln w="15875">
            <a:solidFill>
              <a:srgbClr val="2A9D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ALTITUDE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880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"Classify each message as SALES / SUPPORT / SPAM.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JSON. Reasoning in one sentence.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clarifying questions if the message is empty."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4754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outcomes and shape. Model fills in the how. Works across edge cases you never listed.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331720"/>
            <a:ext cx="3657600" cy="329184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PRESCRIPTIVE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880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 billing AND refund AND amount &gt; $100 AND user is EU AND day is Mon → call escalate_tool()"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4754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can't deviate from your bad if/then tree. Every unlisted case breaks. You are debugging spaghetti in prose.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outcomes and shape. Let the model reason about the "how". Your job is the goal, not the algorithm.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altitude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JSON · three providers, three syntaxes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everywhere. Different parameter names. Pick the native mode when it exists.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721608" cy="274320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3721608" cy="7315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Claude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355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 with input_schema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 structured_outputs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newer SDKs)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PREFILL TRICK: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assistant turn with `{`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(only Claude does this)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1688" y="2148840"/>
            <a:ext cx="3721608" cy="274320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148840"/>
            <a:ext cx="3721608" cy="7315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33172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788920"/>
            <a:ext cx="3355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response_format: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"json_schema",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json_schema: {...},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strict: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2148840"/>
            <a:ext cx="3721608" cy="2743200"/>
          </a:xfrm>
          <a:prstGeom prst="rect">
            <a:avLst/>
          </a:prstGeom>
          <a:solidFill>
            <a:srgbClr val="F1EFE8"/>
          </a:solidFill>
          <a:ln w="15875">
            <a:solidFill>
              <a:srgbClr val="6C4A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2148840"/>
            <a:ext cx="3721608" cy="7315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233172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Gemini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49056" y="2788920"/>
            <a:ext cx="3355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response_mime_type: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"application/json"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response_schema: { ... 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47120" cy="73152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138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FALLBACK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13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schema in system message + include ONE filled-in example + end user turn with: "Return ONLY valid JSON. No prose, no fences."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CODE PARSES 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native JSON mode. Always include a filled-in example. The model copies your example more carefully than your words.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JSON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remove the chance to guess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for hallucinations is almost never "tell the model not to lie." It's "remove the situation where it has to guess."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30352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2A9D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68880"/>
            <a:ext cx="502920" cy="68580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85292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source document into the prompt.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30352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2A9D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502920" cy="68580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355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63016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 ONLY using the text below."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30352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2A9D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02920" cy="68580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40740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not in source, reply: NOT_IN_SOURCE."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530352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2A9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800600"/>
            <a:ext cx="502920" cy="68580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4910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18464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"Quote the sentence that supports your claim."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468880"/>
            <a:ext cx="5760720" cy="310896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578608"/>
            <a:ext cx="543153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Answer ONLY using &lt;source&gt;.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Quote the sentence that supports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each claim.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in &lt;source&gt;, reply EXACTLY: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NOT_IN_SOURCE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Germany aims for 80% renewable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electricity by 2030...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&lt;/source&gt;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Question: What share by 2030?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ESCAPE HATCH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"NOT_IN_SOURCE" the model has no legal way to say "I don't know" — so it invents.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· Get strict JSON out · 12 min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83080"/>
            <a:ext cx="5486400" cy="365760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515721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your model must hit: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"sentiment":  "pos" | "neg" | "neu",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"topics":     [string],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number   // 0.0 –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 "Loved the coffee,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hated the wait."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{ "sentiment": "neg",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"topics": ["coffee","service"],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"confidence": 0.78 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577840" cy="365760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219456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Pick any short text — tweet, review, email.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Get the model to return ONLY the JSON above.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native mode (response_format / response_schema / tool_use) OR Claude prefill `{`.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Paste output into jsonlint.com — must validate.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Stretch: same prompt → same JSON in a 2nd provider.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4709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49377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wrapped in ```json fences? Add "No fences" to prompt.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always 0.95? Add "Use real confidence, do not default."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json.loads() throws, your prompt is not done. Don't fix the JSON in code — fix the prompt.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#2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 · 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came for prompt engineering.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leave calling it context engineering — and knowing why.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5486400" cy="320040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14600"/>
            <a:ext cx="109728" cy="320040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"Prompt engineering was always a little bit ridiculous.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king."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Tim Berglund · Confluent · Feb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514600"/>
            <a:ext cx="5486400" cy="3200400"/>
          </a:xfrm>
          <a:prstGeom prst="rect">
            <a:avLst/>
          </a:prstGeom>
          <a:solidFill>
            <a:srgbClr val="F1EFE8"/>
          </a:solidFill>
          <a:ln w="15875">
            <a:solidFill>
              <a:srgbClr val="6C4A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 SAYING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3108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natural progression of prompt engineering.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3703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context, not clever prompts. Same info a new hire would need.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4297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the CPU. The context window is RAM. Manage it like memory.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4892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4892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is one piece. Context is the whole system.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LEAVE WITH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six-ingredient prompt · a JSON-output bot in a playground of your choice · and a mental model where prompt is one lever inside a context system you now know how to engineer.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CONTEXT ENGINEERING  · 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prompts · to context windows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field is moving — and what stays the same.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577840" cy="329184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182880" cy="3291840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ERA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was a PROMPT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typed → the model replied → one turn. The prompt WAS the conversation. Skill = writing the right one prompt.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5577840" cy="329184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194560"/>
            <a:ext cx="182880" cy="329184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is a CONTEXT WINDOW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37490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call tools, read retrieved docs, hold long conversations. SIX things compete for space in every call — the prompt is just one.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LESSON FITS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still the foundation. Context engineering is built on top. We do 5 min of context preview now → deep dive: Week 10 + the MCP day.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context 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an OS · the context window is 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the model is the CPU · the context window is RAM · the vector DB is disk.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237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480560" cy="868680"/>
          </a:xfrm>
          <a:prstGeom prst="roundRect">
            <a:avLst>
              <a:gd name="adj" fmla="val 15789"/>
            </a:avLst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3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27432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instructions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606040"/>
            <a:ext cx="4480560" cy="868680"/>
          </a:xfrm>
          <a:prstGeom prst="roundRect">
            <a:avLst>
              <a:gd name="adj" fmla="val 15789"/>
            </a:avLst>
          </a:prstGeom>
          <a:solidFill>
            <a:srgbClr val="F1EFE8"/>
          </a:solidFill>
          <a:ln w="12700">
            <a:solidFill>
              <a:srgbClr val="6C4A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4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18320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reasoning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2990088"/>
            <a:ext cx="91440" cy="9144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15" name="Shape 13"/>
          <p:cNvSpPr/>
          <p:nvPr/>
        </p:nvSpPr>
        <p:spPr>
          <a:xfrm>
            <a:off x="5641848" y="2990088"/>
            <a:ext cx="91440" cy="9144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16" name="Shape 14"/>
          <p:cNvSpPr/>
          <p:nvPr/>
        </p:nvSpPr>
        <p:spPr>
          <a:xfrm>
            <a:off x="5888736" y="2990088"/>
            <a:ext cx="91440" cy="9144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35624" y="2990088"/>
            <a:ext cx="91440" cy="9144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18" name="Shape 16"/>
          <p:cNvSpPr/>
          <p:nvPr/>
        </p:nvSpPr>
        <p:spPr>
          <a:xfrm>
            <a:off x="6382512" y="2990088"/>
            <a:ext cx="91440" cy="9144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2990088"/>
            <a:ext cx="91440" cy="9144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657600"/>
            <a:ext cx="4480560" cy="868680"/>
          </a:xfrm>
          <a:prstGeom prst="roundRect">
            <a:avLst>
              <a:gd name="adj" fmla="val 15789"/>
            </a:avLst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3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606040" y="3794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· fills up fast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3657600"/>
            <a:ext cx="4480560" cy="868680"/>
          </a:xfrm>
          <a:prstGeom prst="roundRect">
            <a:avLst>
              <a:gd name="adj" fmla="val 15789"/>
            </a:avLst>
          </a:prstGeom>
          <a:solidFill>
            <a:srgbClr val="F1EFE8"/>
          </a:solidFill>
          <a:ln w="12700">
            <a:solidFill>
              <a:srgbClr val="6C4A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4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window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18320" y="3794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can see NOW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4041648"/>
            <a:ext cx="91440" cy="9144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641848" y="4041648"/>
            <a:ext cx="91440" cy="9144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888736" y="4041648"/>
            <a:ext cx="91440" cy="9144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35624" y="4041648"/>
            <a:ext cx="91440" cy="9144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4041648"/>
            <a:ext cx="91440" cy="9144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31" name="Shape 29"/>
          <p:cNvSpPr/>
          <p:nvPr/>
        </p:nvSpPr>
        <p:spPr>
          <a:xfrm>
            <a:off x="6629400" y="4041648"/>
            <a:ext cx="91440" cy="9144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4709160"/>
            <a:ext cx="4480560" cy="868680"/>
          </a:xfrm>
          <a:prstGeom prst="roundRect">
            <a:avLst>
              <a:gd name="adj" fmla="val 15789"/>
            </a:avLst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800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3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606040" y="4846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4709160"/>
            <a:ext cx="4480560" cy="868680"/>
          </a:xfrm>
          <a:prstGeom prst="roundRect">
            <a:avLst>
              <a:gd name="adj" fmla="val 15789"/>
            </a:avLst>
          </a:prstGeom>
          <a:solidFill>
            <a:srgbClr val="F1EFE8"/>
          </a:solidFill>
          <a:ln w="12700">
            <a:solidFill>
              <a:srgbClr val="6C4A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4800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4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DB / files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418320" y="4846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store (loaded on demand)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94960" y="5093208"/>
            <a:ext cx="91440" cy="91440"/>
          </a:xfrm>
          <a:prstGeom prst="ellipse">
            <a:avLst/>
          </a:prstGeom>
          <a:solidFill>
            <a:srgbClr val="2A9D5F"/>
          </a:solidFill>
          <a:ln/>
        </p:spPr>
      </p:sp>
      <p:sp>
        <p:nvSpPr>
          <p:cNvPr id="39" name="Shape 37"/>
          <p:cNvSpPr/>
          <p:nvPr/>
        </p:nvSpPr>
        <p:spPr>
          <a:xfrm>
            <a:off x="5641848" y="5093208"/>
            <a:ext cx="91440" cy="91440"/>
          </a:xfrm>
          <a:prstGeom prst="ellipse">
            <a:avLst/>
          </a:prstGeom>
          <a:solidFill>
            <a:srgbClr val="2A9D5F"/>
          </a:solidFill>
          <a:ln/>
        </p:spPr>
      </p:sp>
      <p:sp>
        <p:nvSpPr>
          <p:cNvPr id="40" name="Shape 38"/>
          <p:cNvSpPr/>
          <p:nvPr/>
        </p:nvSpPr>
        <p:spPr>
          <a:xfrm>
            <a:off x="5888736" y="5093208"/>
            <a:ext cx="91440" cy="91440"/>
          </a:xfrm>
          <a:prstGeom prst="ellipse">
            <a:avLst/>
          </a:prstGeom>
          <a:solidFill>
            <a:srgbClr val="2A9D5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35624" y="5093208"/>
            <a:ext cx="91440" cy="91440"/>
          </a:xfrm>
          <a:prstGeom prst="ellipse">
            <a:avLst/>
          </a:prstGeom>
          <a:solidFill>
            <a:srgbClr val="2A9D5F"/>
          </a:solidFill>
          <a:ln/>
        </p:spPr>
      </p:sp>
      <p:sp>
        <p:nvSpPr>
          <p:cNvPr id="42" name="Shape 40"/>
          <p:cNvSpPr/>
          <p:nvPr/>
        </p:nvSpPr>
        <p:spPr>
          <a:xfrm>
            <a:off x="6382512" y="5093208"/>
            <a:ext cx="91440" cy="91440"/>
          </a:xfrm>
          <a:prstGeom prst="ellipse">
            <a:avLst/>
          </a:prstGeom>
          <a:solidFill>
            <a:srgbClr val="2A9D5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5093208"/>
            <a:ext cx="91440" cy="91440"/>
          </a:xfrm>
          <a:prstGeom prst="ellipse">
            <a:avLst/>
          </a:prstGeom>
          <a:solidFill>
            <a:srgbClr val="2A9D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RAM fills up, your laptop lags. When the context window fills up, the model forgets. Everything we do next is memory management.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OS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context window · 6 competing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fight for space every turn. Half you control, half grows on you.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ZONE (you control) — kept up top for prefix caching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80760" y="21945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ZONE (grows every turn) — the noisy tail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783080" cy="2194560"/>
          </a:xfrm>
          <a:prstGeom prst="rect">
            <a:avLst/>
          </a:prstGeom>
          <a:solidFill>
            <a:srgbClr val="E3ECF7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480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63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LOCKED ·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2651760"/>
            <a:ext cx="1874520" cy="2194560"/>
          </a:xfrm>
          <a:prstGeom prst="rect">
            <a:avLst/>
          </a:prstGeom>
          <a:solidFill>
            <a:srgbClr val="E3ECF7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9260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4480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63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LOCKED 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2651760"/>
            <a:ext cx="1965960" cy="2194560"/>
          </a:xfrm>
          <a:prstGeom prst="rect">
            <a:avLst/>
          </a:prstGeom>
          <a:solidFill>
            <a:srgbClr val="F8EBD7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92608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GROWS ↑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2651760"/>
            <a:ext cx="1874520" cy="2194560"/>
          </a:xfrm>
          <a:prstGeom prst="rect">
            <a:avLst/>
          </a:prstGeom>
          <a:solidFill>
            <a:srgbClr val="F8EBD7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9260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4480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GROWS 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0" y="2651760"/>
            <a:ext cx="1874520" cy="2194560"/>
          </a:xfrm>
          <a:prstGeom prst="rect">
            <a:avLst/>
          </a:prstGeom>
          <a:solidFill>
            <a:srgbClr val="F8EBD7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29260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01000" y="4480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GROWS 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829800" y="2651760"/>
            <a:ext cx="1874520" cy="2194560"/>
          </a:xfrm>
          <a:prstGeom prst="rect">
            <a:avLst/>
          </a:prstGeom>
          <a:solidFill>
            <a:srgbClr val="F8EBD7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29260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Responses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0" y="4480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GROWS 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983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RAM allocation · every token in every call 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solidFill>
            <a:srgbClr val="F1EFE8"/>
          </a:solidFill>
          <a:ln w="12700">
            <a:solidFill>
              <a:srgbClr val="C730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· By turn 10 of an agent run, the dynamic tail can suffocate the system prompt entirely.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RULE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 up top (prefix cache = 10x cheaper). Dynamic content at the bottom (easier to trim). Order matters as much as content.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components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strategies · Write · Select · Compress · Isolate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context-management technique in the industry fits into one of these four buckets. Framework: LangChain.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777240"/>
          </a:xfrm>
          <a:prstGeom prst="rect">
            <a:avLst/>
          </a:prstGeom>
          <a:solidFill>
            <a:srgbClr val="F1EFE8"/>
          </a:solidFill>
          <a:ln w="12700">
            <a:solidFill>
              <a:srgbClr val="087D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182880" cy="777240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forget.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244144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outside the window: scratchpads · rules files (claude.md) · memory extraction.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182880" cy="777240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3310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is relevant now.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33101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what THIS step needs: agentic RAG · RAG over tool defs · episodic/semantic/procedural memory.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1247120" cy="777240"/>
          </a:xfrm>
          <a:prstGeom prst="rect">
            <a:avLst/>
          </a:prstGeom>
          <a:solidFill>
            <a:srgbClr val="F1EFE8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69080"/>
            <a:ext cx="182880" cy="77724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51760" y="4178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 every turn.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417880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before, during, after: chunking · running summaries · drop old tool outputs.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11247120" cy="777240"/>
          </a:xfrm>
          <a:prstGeom prst="rect">
            <a:avLst/>
          </a:prstGeom>
          <a:solidFill>
            <a:srgbClr val="F1EFE8"/>
          </a:solidFill>
          <a:ln w="12700">
            <a:solidFill>
              <a:srgbClr val="6C4A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937760"/>
            <a:ext cx="182880" cy="777240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651760" y="5047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 contaminate each other.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50474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focused subtasks their own window: sub-agents · phase resets · separate planner/coder sessions.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SHORTCUT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agent misbehaves, ask which of these four you skipped. The answer will name itself.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context goes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failure modes make debugging fast. When your agent misbehaves, one of these is the diagnosis. Framework: Drew Bruyne, 2025.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486400" cy="150876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137160" cy="1508760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or tool error propagates through every next step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PRUNE · validate tool outputs · drop failed attempts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5486400" cy="150876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286000"/>
            <a:ext cx="137160" cy="150876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over-fits to recent history · stops using training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COMPRESS · summarize aggressively · reset when possible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486400" cy="1508760"/>
          </a:xfrm>
          <a:prstGeom prst="rect">
            <a:avLst/>
          </a:prstGeom>
          <a:solidFill>
            <a:srgbClr val="F1EFE8"/>
          </a:solidFill>
          <a:ln w="15875">
            <a:solidFill>
              <a:srgbClr val="6C4A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77640"/>
            <a:ext cx="137160" cy="1508760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87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 · model picks the wrong one even if it fits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SELECT · dynamic tool set · RAG over tool descriptions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5486400" cy="150876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977640"/>
            <a:ext cx="137160" cy="1508760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087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3680" y="4480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 contradicts what is already in context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·  AUTHORITY ORDER · system &gt; retrieved &gt; history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HABIT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agent behavior isn't random. Name the failure mode first · pick the strategy from slide 17 · fix it.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failure modes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 · the U-curve · the receipts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weight tokens at the START and the END of the context heavier than the middle. This is not a bug you can turn off — it emerges from how attention works.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6858000" cy="3108960"/>
          </a:xfrm>
          <a:prstGeom prst="rect">
            <a:avLst/>
          </a:prstGeom>
          <a:solidFill>
            <a:srgbClr val="F1EFE8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5303520"/>
            <a:ext cx="6309360" cy="0"/>
          </a:xfrm>
          <a:prstGeom prst="line">
            <a:avLst/>
          </a:prstGeom>
          <a:noFill/>
          <a:ln w="9525">
            <a:solidFill>
              <a:srgbClr val="C8C4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17520"/>
            <a:ext cx="891540" cy="320040"/>
          </a:xfrm>
          <a:prstGeom prst="line">
            <a:avLst/>
          </a:prstGeom>
          <a:noFill/>
          <a:ln w="38100">
            <a:solidFill>
              <a:srgbClr val="B26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5940" y="3337560"/>
            <a:ext cx="891540" cy="548640"/>
          </a:xfrm>
          <a:prstGeom prst="line">
            <a:avLst/>
          </a:prstGeom>
          <a:noFill/>
          <a:ln w="38100">
            <a:solidFill>
              <a:srgbClr val="B26A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3886200"/>
            <a:ext cx="891540" cy="640080"/>
          </a:xfrm>
          <a:prstGeom prst="line">
            <a:avLst/>
          </a:prstGeom>
          <a:noFill/>
          <a:ln w="38100">
            <a:solidFill>
              <a:srgbClr val="B26A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9020" y="4526280"/>
            <a:ext cx="594360" cy="91440"/>
          </a:xfrm>
          <a:prstGeom prst="line">
            <a:avLst/>
          </a:prstGeom>
          <a:noFill/>
          <a:ln w="38100">
            <a:solidFill>
              <a:srgbClr val="B26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3380" y="4617720"/>
            <a:ext cx="891540" cy="-274320"/>
          </a:xfrm>
          <a:prstGeom prst="line">
            <a:avLst/>
          </a:prstGeom>
          <a:noFill/>
          <a:ln w="38100">
            <a:solidFill>
              <a:srgbClr val="B26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4343400"/>
            <a:ext cx="891540" cy="-640080"/>
          </a:xfrm>
          <a:prstGeom prst="line">
            <a:avLst/>
          </a:prstGeom>
          <a:noFill/>
          <a:ln w="38100">
            <a:solidFill>
              <a:srgbClr val="B26A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6460" y="3703320"/>
            <a:ext cx="891540" cy="-685800"/>
          </a:xfrm>
          <a:prstGeom prst="line">
            <a:avLst/>
          </a:prstGeom>
          <a:noFill/>
          <a:ln w="38100">
            <a:solidFill>
              <a:srgbClr val="B26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907792"/>
            <a:ext cx="219456" cy="219456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073652" y="4507992"/>
            <a:ext cx="219456" cy="219456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748272" y="2907792"/>
            <a:ext cx="219456" cy="219456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3182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2514600"/>
            <a:ext cx="4114800" cy="310896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RECEIPTS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33192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frontier models tested. Every one degrades well below the stated context window limit.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NAACL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142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percentage-point accuracy drop when the same fact moves from position 1 to the middle.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thumb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965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60–70% of the window. Fuller than that = middle gets ignored.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60-70% RULE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context is not always better. Stop treating "million-token window" as a solution — treat it as a warning.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· Feel the U-curve · 12 min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U-curve isn't theoretical. In 12 minutes you'll measure it yourself.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246888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087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shared doc "hands-on-3-haystack.txt" — a 3,000-word article. Note the sentence at the very start.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3657600" cy="246888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60320"/>
            <a:ext cx="640080" cy="640080"/>
          </a:xfrm>
          <a:prstGeom prst="ellipse">
            <a:avLst/>
          </a:prstGeom>
          <a:solidFill>
            <a:srgbClr val="2E63C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492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3375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article into 3 SEPARATE chats. In chat A, ask about the START sentence. In chat B, about a MIDDLE sentence (marked in the doc). In chat C, about the END sentence.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286000"/>
            <a:ext cx="3657600" cy="246888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560320"/>
            <a:ext cx="640080" cy="64008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897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33375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answer 0-2 (0 = wrong, 1 = partial, 2 = exact). Report your MIDDLE score in chat. We'll compute the class average live.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11247120" cy="68580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RUN · Predict on paper: which position (start / middle / end) will score lowest? Bet a coffee.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the U-curve appear as a scatter of the room's scores. Middle loses. Every time. Not a study — your data.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#3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3-phase loop · with context reset barriers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reliable pattern for any long agent task: split it into three phases separated by context resets. Human Layer shipped 35k lines of Rust in one 7-hour session using this.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423160"/>
            <a:ext cx="2834640" cy="301752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0"/>
            <a:ext cx="685800" cy="68580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terrain.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63040" y="4800600"/>
            <a:ext cx="2194560" cy="457200"/>
          </a:xfrm>
          <a:prstGeom prst="rect">
            <a:avLst/>
          </a:prstGeom>
          <a:solidFill>
            <a:srgbClr val="E8E5DA"/>
          </a:solidFill>
          <a:ln w="6350">
            <a:solidFill>
              <a:srgbClr val="087D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research.md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4820" y="2971800"/>
            <a:ext cx="91440" cy="1920240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14" name="Text 12"/>
          <p:cNvSpPr/>
          <p:nvPr/>
        </p:nvSpPr>
        <p:spPr>
          <a:xfrm>
            <a:off x="3817620" y="3657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762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2834640" cy="301752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743200"/>
            <a:ext cx="685800" cy="685800"/>
          </a:xfrm>
          <a:prstGeom prst="ellipse">
            <a:avLst/>
          </a:prstGeom>
          <a:solidFill>
            <a:srgbClr val="2E63C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0644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list.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4800600"/>
            <a:ext cx="2194560" cy="457200"/>
          </a:xfrm>
          <a:prstGeom prst="rect">
            <a:avLst/>
          </a:prstGeom>
          <a:solidFill>
            <a:srgbClr val="E8E5DA"/>
          </a:solidFill>
          <a:ln w="6350">
            <a:solidFill>
              <a:srgbClr val="2E63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3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plan.md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95260" y="2971800"/>
            <a:ext cx="91440" cy="1920240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24" name="Text 22"/>
          <p:cNvSpPr/>
          <p:nvPr/>
        </p:nvSpPr>
        <p:spPr>
          <a:xfrm>
            <a:off x="7338060" y="3657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3806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83880" y="2423160"/>
            <a:ext cx="2834640" cy="301752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2743200"/>
            <a:ext cx="685800" cy="68580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32688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503920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plan.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deviate.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4800600"/>
            <a:ext cx="2194560" cy="457200"/>
          </a:xfrm>
          <a:prstGeom prst="rect">
            <a:avLst/>
          </a:prstGeom>
          <a:solidFill>
            <a:srgbClr val="E8E5DA"/>
          </a:solidFill>
          <a:ln w="6350">
            <a:solidFill>
              <a:srgbClr val="B26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code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produces a compacted artifact. Each new phase opens a fresh window containing ONLY that artifact. Zero contamination.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loop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 · 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tips to pin to your wall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class distilled into ten rules-of-thumb. Print. Pin. Reread every Monday.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087D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450592"/>
            <a:ext cx="457200" cy="457200"/>
          </a:xfrm>
          <a:prstGeom prst="ellipse">
            <a:avLst/>
          </a:prstGeom>
          <a:solidFill>
            <a:srgbClr val="087D6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prompt has 3+ IF/THENs, rewrite as a goal.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2E63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182112"/>
            <a:ext cx="457200" cy="457200"/>
          </a:xfrm>
          <a:prstGeom prst="ellipse">
            <a:avLst/>
          </a:prstGeom>
          <a:solidFill>
            <a:srgbClr val="2E63C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063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for anything code parses. 0.7 for humans.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2E63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913632"/>
            <a:ext cx="457200" cy="457200"/>
          </a:xfrm>
          <a:prstGeom prst="ellipse">
            <a:avLst/>
          </a:prstGeom>
          <a:solidFill>
            <a:srgbClr val="2E63C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max_tokens. Never leave it default.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B26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645152"/>
            <a:ext cx="457200" cy="45720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5262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adjectives are bugs. Replace with specific person or number.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25780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C730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76672"/>
            <a:ext cx="457200" cy="457200"/>
          </a:xfrm>
          <a:prstGeom prst="ellipse">
            <a:avLst/>
          </a:prstGeom>
          <a:solidFill>
            <a:srgbClr val="C7305D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5257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needs an escape hatch (e.g., "reply NOT_IN_SOURCE").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33172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6C4A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2450592"/>
            <a:ext cx="457200" cy="457200"/>
          </a:xfrm>
          <a:prstGeom prst="ellipse">
            <a:avLst/>
          </a:prstGeom>
          <a:solidFill>
            <a:srgbClr val="6C4AB8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23317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 up top. Prefix caching is 10x cheaper.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06324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6C4A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3182112"/>
            <a:ext cx="457200" cy="457200"/>
          </a:xfrm>
          <a:prstGeom prst="ellipse">
            <a:avLst/>
          </a:prstGeom>
          <a:solidFill>
            <a:srgbClr val="6C4AB8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3063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60-70% context utilization. Fuller = middle ignored.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79476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C7305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3913632"/>
            <a:ext cx="457200" cy="457200"/>
          </a:xfrm>
          <a:prstGeom prst="ellipse">
            <a:avLst/>
          </a:prstGeom>
          <a:solidFill>
            <a:srgbClr val="C7305D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3794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failure mode before you fix it (Poison/Distract/Confuse/Clash).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452628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B26A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4645152"/>
            <a:ext cx="457200" cy="457200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40880" y="45262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context between phases. Fresh window per artifact.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5257800"/>
            <a:ext cx="5486400" cy="685800"/>
          </a:xfrm>
          <a:prstGeom prst="rect">
            <a:avLst/>
          </a:prstGeom>
          <a:solidFill>
            <a:srgbClr val="F1EFE8"/>
          </a:solidFill>
          <a:ln w="9525">
            <a:solidFill>
              <a:srgbClr val="2A9D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5376672"/>
            <a:ext cx="457200" cy="457200"/>
          </a:xfrm>
          <a:prstGeom prst="ellipse">
            <a:avLst/>
          </a:prstGeom>
          <a:solidFill>
            <a:srgbClr val="2A9D5F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40880" y="5257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is the atom. Master it before you scale.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META-TIP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thing: name the primitive (prompt / context / workflow) before you touch it. Debugging speed × 5.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tricks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 ·  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hierarchy of AI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Each built on the one below. If the bottom fails, everything above collapses.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5852160" cy="1280160"/>
          </a:xfrm>
          <a:prstGeom prst="trapezoid">
            <a:avLst/>
          </a:prstGeom>
          <a:solidFill>
            <a:srgbClr val="087D6A"/>
          </a:solidFill>
          <a:ln w="25400">
            <a:solidFill>
              <a:srgbClr val="FBFA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89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FORMULATION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782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schemas · grounding · escape hatches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34947" y="2944368"/>
            <a:ext cx="3862426" cy="1143000"/>
          </a:xfrm>
          <a:prstGeom prst="trapezoid">
            <a:avLst/>
          </a:prstGeom>
          <a:solidFill>
            <a:srgbClr val="6C4AB8"/>
          </a:solidFill>
          <a:ln w="25400">
            <a:solidFill>
              <a:srgbClr val="FBFA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34947" y="3200400"/>
            <a:ext cx="3862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34947" y="3584448"/>
            <a:ext cx="3862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U-curve · 4 strategies · failure modes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0554" y="1911096"/>
            <a:ext cx="1931213" cy="1051560"/>
          </a:xfrm>
          <a:prstGeom prst="triangle">
            <a:avLst/>
          </a:prstGeom>
          <a:solidFill>
            <a:srgbClr val="B26A00"/>
          </a:solidFill>
          <a:ln w="25400">
            <a:solidFill>
              <a:srgbClr val="FBF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0554" y="2414016"/>
            <a:ext cx="1931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2423160"/>
            <a:ext cx="46634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C730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423160"/>
            <a:ext cx="109728" cy="1051560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2514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BOTTOM FAILS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80720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above it fails too. A pyramid without a base is just gravity.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3657600"/>
            <a:ext cx="46634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3657600"/>
            <a:ext cx="109728" cy="105156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40416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autonomous session = great prompt formulation · scaled by context management · wrapped in workflow architecture.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4892040"/>
            <a:ext cx="46634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4892040"/>
            <a:ext cx="109728" cy="1051560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4983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INVEST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52760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Beginners: master the bottom tier. Bootcamp week 20+: middle tier. Post-graduation: workflows.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is the atom. Context is the molecule. Workflow is the organism. You are here to master the atom first.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 · 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hierarchy of AI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Each built on the one below. If the bottom fails, everything above collapses.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5852160" cy="1280160"/>
          </a:xfrm>
          <a:prstGeom prst="trapezoid">
            <a:avLst/>
          </a:prstGeom>
          <a:solidFill>
            <a:srgbClr val="087D6A"/>
          </a:solidFill>
          <a:ln w="25400">
            <a:solidFill>
              <a:srgbClr val="FBFA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89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FORMULATION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782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schemas · grounding · escape hatches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34947" y="2944368"/>
            <a:ext cx="3862426" cy="1143000"/>
          </a:xfrm>
          <a:prstGeom prst="trapezoid">
            <a:avLst/>
          </a:prstGeom>
          <a:solidFill>
            <a:srgbClr val="6C4AB8"/>
          </a:solidFill>
          <a:ln w="25400">
            <a:solidFill>
              <a:srgbClr val="FBFA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34947" y="3200400"/>
            <a:ext cx="3862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34947" y="3584448"/>
            <a:ext cx="3862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U-curve · 4 strategies · failure modes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0554" y="1911096"/>
            <a:ext cx="1931213" cy="1051560"/>
          </a:xfrm>
          <a:prstGeom prst="triangle">
            <a:avLst/>
          </a:prstGeom>
          <a:solidFill>
            <a:srgbClr val="B26A00"/>
          </a:solidFill>
          <a:ln w="25400">
            <a:solidFill>
              <a:srgbClr val="FBF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0554" y="2414016"/>
            <a:ext cx="1931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2423160"/>
            <a:ext cx="46634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C730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423160"/>
            <a:ext cx="109728" cy="1051560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2514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BOTTOM FAILS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80720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above it fails too. A pyramid without a base is just gravity.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3657600"/>
            <a:ext cx="46634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3657600"/>
            <a:ext cx="109728" cy="105156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40416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autonomous session = great prompt formulation · scaled by context management · wrapped in workflow architecture.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4892040"/>
            <a:ext cx="46634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4892040"/>
            <a:ext cx="109728" cy="1051560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4983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INVEST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52760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Beginners: master the bottom tier. Bootcamp week 20+: middle tier. Post-graduation: workflows.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is the atom. Context is the molecule. Workflow is the organism. You are here to master the atom first.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v6.2 (foundations expanded, 2:30h, interactive)</dc:title>
  <dc:subject>PptxGenJS Presentation</dc:subject>
  <dc:creator>Developers Institute</dc:creator>
  <cp:lastModifiedBy>Developers Institute</cp:lastModifiedBy>
  <cp:revision>1</cp:revision>
  <dcterms:created xsi:type="dcterms:W3CDTF">2026-07-15T21:53:31Z</dcterms:created>
  <dcterms:modified xsi:type="dcterms:W3CDTF">2026-07-15T21:53:31Z</dcterms:modified>
</cp:coreProperties>
</file>